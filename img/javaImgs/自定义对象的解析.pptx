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918" autoAdjust="0"/>
    <p:restoredTop sz="94660"/>
  </p:normalViewPr>
  <p:slideViewPr>
    <p:cSldViewPr snapToGrid="0">
      <p:cViewPr>
        <p:scale>
          <a:sx n="75" d="100"/>
          <a:sy n="75" d="100"/>
        </p:scale>
        <p:origin x="6432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57E9F72-A081-40C4-B56E-4C37F80F2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70057" y="-2206171"/>
            <a:ext cx="4317132" cy="1016638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B52DFBB-CC85-4A8B-97A7-D60D8205B0C9}"/>
              </a:ext>
            </a:extLst>
          </p:cNvPr>
          <p:cNvCxnSpPr/>
          <p:nvPr/>
        </p:nvCxnSpPr>
        <p:spPr>
          <a:xfrm>
            <a:off x="-5148310" y="2491664"/>
            <a:ext cx="0" cy="687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">
            <a:extLst>
              <a:ext uri="{FF2B5EF4-FFF2-40B4-BE49-F238E27FC236}">
                <a16:creationId xmlns:a16="http://schemas.microsoft.com/office/drawing/2014/main" id="{3284C2CC-CE8C-44E7-ADC9-192F12505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170057" y="-428294"/>
            <a:ext cx="6580648" cy="440120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getMethodArgumentValues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Object... providedArgs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把该类属性取出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parameters = getMethodParameters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EMPTY_ARGS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创建一个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args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数组用来存放方法中的属性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parameters.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 &lt; parameters.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i++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 = parameters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parameter.initParameterNameDiscovery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parameterNameDiscoverer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findProvidedArgument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providedArgs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continue;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.supportsParameter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IllegalStateException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formatArgumentError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 suitable resolver"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dataBinderFactory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Leave stack trace for later, exception may actually be resolved and handled...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.isDebugEnabled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exMsg = ex.getMessage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exMsg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!exMsg.contains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parameter.getExecutable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.toGenericString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.debug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formatArgumentError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exMsg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4415153-3BF3-476B-AFFF-A5095E25AF40}"/>
              </a:ext>
            </a:extLst>
          </p:cNvPr>
          <p:cNvCxnSpPr/>
          <p:nvPr/>
        </p:nvCxnSpPr>
        <p:spPr>
          <a:xfrm>
            <a:off x="-5148310" y="-1189533"/>
            <a:ext cx="0" cy="76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2E5DA97D-04A4-450E-B075-CEB741AF4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70057" y="-518770"/>
            <a:ext cx="1828571" cy="18095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52567CD-19B3-4BA5-9F57-A23A6F105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39726" y="-2159701"/>
            <a:ext cx="1828571" cy="180952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185795C2-FB49-4EBD-A9BD-55651DCACB33}"/>
              </a:ext>
            </a:extLst>
          </p:cNvPr>
          <p:cNvCxnSpPr/>
          <p:nvPr/>
        </p:nvCxnSpPr>
        <p:spPr>
          <a:xfrm>
            <a:off x="-4945380" y="2118360"/>
            <a:ext cx="0" cy="2179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3">
            <a:extLst>
              <a:ext uri="{FF2B5EF4-FFF2-40B4-BE49-F238E27FC236}">
                <a16:creationId xmlns:a16="http://schemas.microsoft.com/office/drawing/2014/main" id="{91C90678-B5CC-4BFB-A52C-2393F9A0F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170057" y="4257774"/>
            <a:ext cx="5907386" cy="144655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WebDataBinderFactory 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得到需要的解析器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HandlerMethodArgumentResolver resolver = getArgumentResolver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"Unsupported parameter type ["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parameter.getParameterType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"]. supportsParameter should be called first."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解析参数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resolver.resolveArgument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66E26AC-6C0C-4333-A68D-40C33ABE1846}"/>
              </a:ext>
            </a:extLst>
          </p:cNvPr>
          <p:cNvCxnSpPr>
            <a:cxnSpLocks/>
          </p:cNvCxnSpPr>
          <p:nvPr/>
        </p:nvCxnSpPr>
        <p:spPr>
          <a:xfrm>
            <a:off x="-1256489" y="4746792"/>
            <a:ext cx="1187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>
            <a:extLst>
              <a:ext uri="{FF2B5EF4-FFF2-40B4-BE49-F238E27FC236}">
                <a16:creationId xmlns:a16="http://schemas.microsoft.com/office/drawing/2014/main" id="{B899B0AE-F3AC-4836-B99B-3C55F8878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658" y="-2405921"/>
            <a:ext cx="6244017" cy="834074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final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resolveArgument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ModelAndViewContainer mavContainer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WebDataBinderFactory binderFactory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"ModelAttributeMethodProcessor requires ModelAndViewContainer"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binderFactory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"ModelAttributeMethodProcessor requires WebDataBinderFactory"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name = ModelFactory.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getNameForParameter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看看是否又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ModelAttribute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注解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用来在对象前先存入一个对象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现在被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myBatis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取代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ModelAttribute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ann = parameter.getParameterAnnotation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ModelAttribute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ann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mavContainer.setBinding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ann.binding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attribute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BindingResult bindingResult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如果</a:t>
            </a: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mavContainer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默认</a:t>
            </a: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model(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代表方法参数中的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Model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map)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里面存放着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name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属性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mavContainer.containsAttribute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从</a:t>
            </a: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model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取出当前对象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 = mavContainer.getModel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Create attribute instance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创建对象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 = createAttribute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binderFactory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isBindExceptionRequired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No BindingResult parameter -&gt; fail with BindException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Otherwise, expose null/empty value and associated BindingResult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== Optional.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 = Optional.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bindingResult = ex.getBindingResult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bindingResult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Bean property binding and validation;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// skipped in case of binding failure on construction.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07807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07807C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07807C"/>
                </a:solidFill>
                <a:latin typeface="Consolas" panose="020B0609020204030204" pitchFamily="49" charset="0"/>
              </a:rPr>
              <a:t>获取绑定器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 binder = binderFactory.createBinder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binder.getTarget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!mavContainer.isBindingDisabled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bindRequestParameters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validateIfApplicable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binder.getBindingResult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.hasErrors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isBindExceptionRequired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binder.getBindingResult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Value type adaptation, also covering java.util.Optional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!parameter.getParameterType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.isInstance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 = binder.convertIfNecessary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binder.getTarget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parameter.getParameterType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bindingResult = binder.getBindingResult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Add resolved attribute and BindingResult at the end of the model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bindingResultModel = bindingResult.getModel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mavContainer.removeAttributes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bindingResultModel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mavContainer.addAllAttributes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bindingResultModel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BDBD864C-C3A5-4B03-83BC-700087411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506" y="-2220585"/>
            <a:ext cx="5065810" cy="206210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629755"/>
                </a:solidFill>
                <a:effectLst/>
                <a:latin typeface="Consolas" panose="020B0609020204030204" pitchFamily="49" charset="0"/>
              </a:rPr>
              <a:t>*/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629755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final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createAttribute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attributeName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WebDataBinderFactory binderFactory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value = getRequestValueForAttribute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attribute = createAttributeFromRequestValue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binderFactory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super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.createAttribute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binderFactory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DFB387E6-2950-45C0-8824-D17086F7AA2F}"/>
              </a:ext>
            </a:extLst>
          </p:cNvPr>
          <p:cNvCxnSpPr>
            <a:cxnSpLocks/>
          </p:cNvCxnSpPr>
          <p:nvPr/>
        </p:nvCxnSpPr>
        <p:spPr>
          <a:xfrm flipV="1">
            <a:off x="3623094" y="-1846051"/>
            <a:ext cx="3282545" cy="25879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6FE6DED-05F2-476E-9EF6-DCF89A67BA2F}"/>
              </a:ext>
            </a:extLst>
          </p:cNvPr>
          <p:cNvCxnSpPr/>
          <p:nvPr/>
        </p:nvCxnSpPr>
        <p:spPr>
          <a:xfrm>
            <a:off x="9154691" y="-148037"/>
            <a:ext cx="0" cy="769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6">
            <a:extLst>
              <a:ext uri="{FF2B5EF4-FFF2-40B4-BE49-F238E27FC236}">
                <a16:creationId xmlns:a16="http://schemas.microsoft.com/office/drawing/2014/main" id="{37031DD6-2E11-4D03-BEBE-DB4E22A66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129" y="631547"/>
            <a:ext cx="6019597" cy="353943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createAttribute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attributeName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WebDataBinderFactory binderFactory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MethodParameter nestedParameter = parameter.nestedIfOptional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clazz = nestedParameter.getNestedParameterType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ctor = BeanUtils.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findPrimaryConstructor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clazz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ctor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&gt;[]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ctors = clazz.getConstructors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ctors.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length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ctor = ctors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ctor = clazz.getDeclaredConstructor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NoSuchMethodException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IllegalStateException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“No primary or default constructor found for ”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clazz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构建对象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attribute = constructAttribute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ctor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binderFactory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parameter != nestedParameter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 = Optional.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attribute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02686623-92DF-48F0-85A5-43B6103AC210}"/>
              </a:ext>
            </a:extLst>
          </p:cNvPr>
          <p:cNvCxnSpPr>
            <a:cxnSpLocks/>
          </p:cNvCxnSpPr>
          <p:nvPr/>
        </p:nvCxnSpPr>
        <p:spPr>
          <a:xfrm>
            <a:off x="1940927" y="3355780"/>
            <a:ext cx="4382235" cy="16931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图片 50">
            <a:extLst>
              <a:ext uri="{FF2B5EF4-FFF2-40B4-BE49-F238E27FC236}">
                <a16:creationId xmlns:a16="http://schemas.microsoft.com/office/drawing/2014/main" id="{CC7D13A6-2BAA-4750-A1D7-E742C7899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1638" y="1116406"/>
            <a:ext cx="3219450" cy="257175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A6E631CD-6729-4183-BD03-F880AB2EF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998" y="1373581"/>
            <a:ext cx="1866900" cy="1485900"/>
          </a:xfrm>
          <a:prstGeom prst="rect">
            <a:avLst/>
          </a:prstGeom>
        </p:spPr>
      </p:pic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7C6DE1B-7A89-446E-848E-B1E5437C8068}"/>
              </a:ext>
            </a:extLst>
          </p:cNvPr>
          <p:cNvCxnSpPr/>
          <p:nvPr/>
        </p:nvCxnSpPr>
        <p:spPr>
          <a:xfrm flipV="1">
            <a:off x="2087592" y="2251494"/>
            <a:ext cx="1535502" cy="741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7">
            <a:extLst>
              <a:ext uri="{FF2B5EF4-FFF2-40B4-BE49-F238E27FC236}">
                <a16:creationId xmlns:a16="http://schemas.microsoft.com/office/drawing/2014/main" id="{3B09A0DC-0FCC-4D0D-8FEF-9A9CAED57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669" y="4605721"/>
            <a:ext cx="5009705" cy="107721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bindRequestParameters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WebDataBinder binder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NativeWebRequest 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得到原生的请求对象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 servletRequest = request.getNativeRequest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"No ServletRequest"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ServletRequestDataBinder servletBinder =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ServletRequestDataBinder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servletBinder.bind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A101389-7275-4CB2-B1B8-FB40F7C0D9A2}"/>
              </a:ext>
            </a:extLst>
          </p:cNvPr>
          <p:cNvCxnSpPr/>
          <p:nvPr/>
        </p:nvCxnSpPr>
        <p:spPr>
          <a:xfrm>
            <a:off x="7710981" y="5608399"/>
            <a:ext cx="0" cy="750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8">
            <a:extLst>
              <a:ext uri="{FF2B5EF4-FFF2-40B4-BE49-F238E27FC236}">
                <a16:creationId xmlns:a16="http://schemas.microsoft.com/office/drawing/2014/main" id="{75820536-6B59-49AC-85B6-7CBD103E5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551" y="6258232"/>
            <a:ext cx="5682966" cy="144655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 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获取请求中所有的参数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MutablePropertyValues mpvs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ServletRequestParameterPropertyValues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MultipartRequest multipartRequest = WebUtils.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getNativeRequest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MultipartRequest.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multipartRequest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	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bindMultipart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multipartRequest.getMultiFileMap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addBindValues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mpvs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进行绑定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doBind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4C981855-F530-49C6-974D-7308DD97F9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697" y="5885906"/>
            <a:ext cx="3217820" cy="681094"/>
          </a:xfrm>
          <a:prstGeom prst="rect">
            <a:avLst/>
          </a:prstGeom>
        </p:spPr>
      </p:pic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0B5F5F6-75AD-484F-AAA3-E9CE91337114}"/>
              </a:ext>
            </a:extLst>
          </p:cNvPr>
          <p:cNvCxnSpPr>
            <a:cxnSpLocks/>
          </p:cNvCxnSpPr>
          <p:nvPr/>
        </p:nvCxnSpPr>
        <p:spPr>
          <a:xfrm flipV="1">
            <a:off x="7818602" y="6116820"/>
            <a:ext cx="915823" cy="531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7CDD6A97-44B1-48C5-B52D-780BFF6CBBA6}"/>
              </a:ext>
            </a:extLst>
          </p:cNvPr>
          <p:cNvCxnSpPr/>
          <p:nvPr/>
        </p:nvCxnSpPr>
        <p:spPr>
          <a:xfrm>
            <a:off x="7818602" y="7693304"/>
            <a:ext cx="0" cy="719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9">
            <a:extLst>
              <a:ext uri="{FF2B5EF4-FFF2-40B4-BE49-F238E27FC236}">
                <a16:creationId xmlns:a16="http://schemas.microsoft.com/office/drawing/2014/main" id="{0AB7EA35-F74C-4C15-92FC-0D20880C4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129" y="8412422"/>
            <a:ext cx="3046027" cy="83099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doBind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MutablePropertyValues 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checkFieldDefaults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checkFieldMarkers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super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.doBind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3" name="Rectangle 11">
            <a:extLst>
              <a:ext uri="{FF2B5EF4-FFF2-40B4-BE49-F238E27FC236}">
                <a16:creationId xmlns:a16="http://schemas.microsoft.com/office/drawing/2014/main" id="{5D9B21A1-0048-4197-B8F1-61AA4DD22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789" y="9983077"/>
            <a:ext cx="3046027" cy="83099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doBind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MutablePropertyValues 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checkAllowedFields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checkRequiredFields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applyPropertyValues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94F4B768-9AB5-4C43-99D6-72CD7119B97F}"/>
              </a:ext>
            </a:extLst>
          </p:cNvPr>
          <p:cNvCxnSpPr/>
          <p:nvPr/>
        </p:nvCxnSpPr>
        <p:spPr>
          <a:xfrm>
            <a:off x="7818602" y="9243419"/>
            <a:ext cx="0" cy="739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AA361F4E-8E8F-4171-9295-FC18098A98D5}"/>
              </a:ext>
            </a:extLst>
          </p:cNvPr>
          <p:cNvCxnSpPr>
            <a:cxnSpLocks/>
          </p:cNvCxnSpPr>
          <p:nvPr/>
        </p:nvCxnSpPr>
        <p:spPr>
          <a:xfrm rot="16200000" flipV="1">
            <a:off x="3457706" y="7123610"/>
            <a:ext cx="3998788" cy="2650111"/>
          </a:xfrm>
          <a:prstGeom prst="bentConnector3">
            <a:avLst>
              <a:gd name="adj1" fmla="val 1119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12">
            <a:extLst>
              <a:ext uri="{FF2B5EF4-FFF2-40B4-BE49-F238E27FC236}">
                <a16:creationId xmlns:a16="http://schemas.microsoft.com/office/drawing/2014/main" id="{69D60D8C-36D1-424A-80F4-09EB516BD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65" y="6448760"/>
            <a:ext cx="5907386" cy="70788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applyPropertyValues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MutablePropertyValues mpvs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Bind request parameters onto target object.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getPropertyAccessor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.setPropertyValues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mpvs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isIgnoreUnknownFields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isIgnoreInvalidFields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E64A42E4-CA13-4B87-B3C9-BC8F3B118968}"/>
              </a:ext>
            </a:extLst>
          </p:cNvPr>
          <p:cNvCxnSpPr/>
          <p:nvPr/>
        </p:nvCxnSpPr>
        <p:spPr>
          <a:xfrm>
            <a:off x="1524000" y="6981507"/>
            <a:ext cx="0" cy="723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13">
            <a:extLst>
              <a:ext uri="{FF2B5EF4-FFF2-40B4-BE49-F238E27FC236}">
                <a16:creationId xmlns:a16="http://schemas.microsoft.com/office/drawing/2014/main" id="{E3D50C88-1564-4EDF-A250-955764117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697" y="7643227"/>
            <a:ext cx="6244017" cy="501675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setPropertyValues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PropertyValues pvs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boolean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ignoreUnknown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boolean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ignoreInvalid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BeansException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PropertyAccessException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propertyAccessExceptions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如果是可变参数那么就把</a:t>
            </a: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pvc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里面的参数取出来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propertyValues =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pvs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instanceof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MutablePropertyValues ?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MutablePropertyValues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pvs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.getPropertyValueList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 Arrays.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pvs.getPropertyValues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PropertyValue pv : propertyValues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This method may throw any BeansException, which won't be caught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   // here, if there is a critical failure such as no matching field.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   // We can attempt to deal only with less serious exceptions.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setPropertyValue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pv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NotWritablePropertyException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!ignoreUnknown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Otherwise, just ignore it and continue...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NullValueInNestedPathException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!ignoreInvalid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Otherwise, just ignore it and continue...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PropertyAccessException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propertyAccessExceptions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propertyAccessExceptions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&lt;&gt;()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propertyAccessExceptions.add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If we encountered individual exceptions, throw the composite exception.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propertyAccessExceptions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PropertyAccessException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paeArray = propertyAccessExceptions.toArray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PropertyAccessException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PropertyBatchUpdateException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paeArray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2144AC91-F80A-4F1D-AF1D-9B098565A5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8341" y="9243419"/>
            <a:ext cx="3577018" cy="613414"/>
          </a:xfrm>
          <a:prstGeom prst="rect">
            <a:avLst/>
          </a:prstGeom>
        </p:spPr>
      </p:pic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E30053D4-299E-4FFE-BFF9-22E408FC106B}"/>
              </a:ext>
            </a:extLst>
          </p:cNvPr>
          <p:cNvCxnSpPr/>
          <p:nvPr/>
        </p:nvCxnSpPr>
        <p:spPr>
          <a:xfrm flipH="1" flipV="1">
            <a:off x="2557250" y="8537222"/>
            <a:ext cx="674388" cy="706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14">
            <a:extLst>
              <a:ext uri="{FF2B5EF4-FFF2-40B4-BE49-F238E27FC236}">
                <a16:creationId xmlns:a16="http://schemas.microsoft.com/office/drawing/2014/main" id="{A7CB7909-3420-47F5-AB58-3CF4887F5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255772" y="6448760"/>
            <a:ext cx="5514651" cy="304698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setPropertyValue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PropertyValue pv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BeansException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PropertyTokenHolder tokens =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PropertyTokenHolder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pv.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resolvedTokens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tokens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propertyName = pv.getName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AbstractNestablePropertyAccessor nestedPa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nestedPa = getPropertyAccessorForPropertyPath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NotReadablePropertyException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NotWritablePropertyException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getRootClass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nestedPath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propertyName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"Nested property in path '"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propertyName 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"' does not exist"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tokens = getPropertyNameTokens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getFinalPath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nestedPa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nestedPa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pv.getOriginalPropertyValue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resolvedTokens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= tokens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nestedPa.setPropertyValue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tokens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pv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setPropertyValue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tokens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pv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196E6B07-759E-423E-99F1-D4B9E8569786}"/>
              </a:ext>
            </a:extLst>
          </p:cNvPr>
          <p:cNvCxnSpPr>
            <a:cxnSpLocks/>
          </p:cNvCxnSpPr>
          <p:nvPr/>
        </p:nvCxnSpPr>
        <p:spPr>
          <a:xfrm rot="10800000">
            <a:off x="-1675871" y="7490460"/>
            <a:ext cx="2501563" cy="17529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C4B54038-C7CB-421B-964B-2E1FFDAD51EF}"/>
              </a:ext>
            </a:extLst>
          </p:cNvPr>
          <p:cNvCxnSpPr/>
          <p:nvPr/>
        </p:nvCxnSpPr>
        <p:spPr>
          <a:xfrm>
            <a:off x="-28787682" y="18506210"/>
            <a:ext cx="0" cy="1047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5">
            <a:extLst>
              <a:ext uri="{FF2B5EF4-FFF2-40B4-BE49-F238E27FC236}">
                <a16:creationId xmlns:a16="http://schemas.microsoft.com/office/drawing/2014/main" id="{577D4B7B-FA51-47E6-AAE9-2CB9186BA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440691" y="9921522"/>
            <a:ext cx="5851282" cy="107721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setPropertyValue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PropertyTokenHolder tokens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PropertyValue pv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BeansException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tokens.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keys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processKeyedProperty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tokens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pv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    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进行转换并赋值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processLocalProperty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tokens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pv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9" name="Rectangle 16">
            <a:extLst>
              <a:ext uri="{FF2B5EF4-FFF2-40B4-BE49-F238E27FC236}">
                <a16:creationId xmlns:a16="http://schemas.microsoft.com/office/drawing/2014/main" id="{40CFFD39-1960-4141-A6F8-FFE48C728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440691" y="11671274"/>
            <a:ext cx="4616970" cy="83099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进行转换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A9B7C6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valueToApply = convertForProperty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tokens.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canonicalName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oldValue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originalValue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ph.toTypeDescriptor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进行赋值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ph.setValue(valueToApply);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86542DE3-3343-4B5D-829B-39BC08E9CC7F}"/>
              </a:ext>
            </a:extLst>
          </p:cNvPr>
          <p:cNvCxnSpPr/>
          <p:nvPr/>
        </p:nvCxnSpPr>
        <p:spPr>
          <a:xfrm>
            <a:off x="-5495026" y="10714008"/>
            <a:ext cx="0" cy="1257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C68ADBD0-07C0-415D-94FD-FEF4D68BADBC}"/>
              </a:ext>
            </a:extLst>
          </p:cNvPr>
          <p:cNvCxnSpPr/>
          <p:nvPr/>
        </p:nvCxnSpPr>
        <p:spPr>
          <a:xfrm flipH="1">
            <a:off x="-8358996" y="11971597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EC9E019A-28B4-4211-A245-CF332B89966F}"/>
              </a:ext>
            </a:extLst>
          </p:cNvPr>
          <p:cNvSpPr txBox="1"/>
          <p:nvPr/>
        </p:nvSpPr>
        <p:spPr>
          <a:xfrm>
            <a:off x="-7732403" y="11725376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跳了几步</a:t>
            </a:r>
          </a:p>
        </p:txBody>
      </p:sp>
      <p:pic>
        <p:nvPicPr>
          <p:cNvPr id="121" name="图片 120">
            <a:extLst>
              <a:ext uri="{FF2B5EF4-FFF2-40B4-BE49-F238E27FC236}">
                <a16:creationId xmlns:a16="http://schemas.microsoft.com/office/drawing/2014/main" id="{6C0B6917-8261-4BFC-AECF-50DF0BAC0C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3281019" y="10666279"/>
            <a:ext cx="3000000" cy="295238"/>
          </a:xfrm>
          <a:prstGeom prst="rect">
            <a:avLst/>
          </a:prstGeom>
        </p:spPr>
      </p:pic>
      <p:sp>
        <p:nvSpPr>
          <p:cNvPr id="123" name="Rectangle 20">
            <a:extLst>
              <a:ext uri="{FF2B5EF4-FFF2-40B4-BE49-F238E27FC236}">
                <a16:creationId xmlns:a16="http://schemas.microsoft.com/office/drawing/2014/main" id="{D75E49A0-5DC7-4E47-999A-599A39F80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041539" y="11007952"/>
            <a:ext cx="6692858" cy="230832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507874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507874"/>
                </a:solidFill>
                <a:effectLst/>
                <a:latin typeface="Consolas" panose="020B0609020204030204" pitchFamily="49" charset="0"/>
              </a:rPr>
              <a:t>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convertIfNecessary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String propertyName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oldValue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newValue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507874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requiredType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typeDescriptor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IllegalArgumentException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Custom editor for this type?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PropertyEditor editor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propertyEditorRegistry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.findCustomEditor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requiredType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propertyName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ConversionFailedException conversionAttemptEx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No custom editor but custom ConversionService specified?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ConversionService conversionService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propertyEditorRegistry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.getConversionService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editor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conversionService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newValue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typeDescriptor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sourceTypeDesc = TypeDescriptor.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forObject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newValue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判断是否能进行转换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conversionService.canConvert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sourceTypeDesc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	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进行转换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507874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conversionService.convert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newValue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sourceTypeDesc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4" name="Rectangle 21">
            <a:extLst>
              <a:ext uri="{FF2B5EF4-FFF2-40B4-BE49-F238E27FC236}">
                <a16:creationId xmlns:a16="http://schemas.microsoft.com/office/drawing/2014/main" id="{991890C4-8437-46ED-8E93-F08E31FC6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654554" y="6565762"/>
            <a:ext cx="5514651" cy="26776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protected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GenericConverter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getConverter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ConverterCacheKey key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ConverterCacheKey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GenericConverter converter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converterCache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!=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NO_MATCH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 converter 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converters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.find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= getDefaultConverter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converterCache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.put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converterCache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.put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NO_MATCH)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return 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EADEF99D-8B9F-4B63-A5DF-644E49BBD499}"/>
              </a:ext>
            </a:extLst>
          </p:cNvPr>
          <p:cNvCxnSpPr>
            <a:cxnSpLocks/>
          </p:cNvCxnSpPr>
          <p:nvPr/>
        </p:nvCxnSpPr>
        <p:spPr>
          <a:xfrm flipV="1">
            <a:off x="-13039725" y="9243418"/>
            <a:ext cx="0" cy="3510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5494D8CF-6509-49D4-90E8-329BDAE5DA7D}"/>
              </a:ext>
            </a:extLst>
          </p:cNvPr>
          <p:cNvCxnSpPr/>
          <p:nvPr/>
        </p:nvCxnSpPr>
        <p:spPr>
          <a:xfrm flipV="1">
            <a:off x="-12801600" y="5781675"/>
            <a:ext cx="0" cy="1861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22">
            <a:extLst>
              <a:ext uri="{FF2B5EF4-FFF2-40B4-BE49-F238E27FC236}">
                <a16:creationId xmlns:a16="http://schemas.microsoft.com/office/drawing/2014/main" id="{6470D8FE-AA5C-4FC2-984D-B276FBD0E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000471" y="3708621"/>
            <a:ext cx="5907386" cy="206210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GenericConverter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// Search the full type hierarchy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07807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sourceCandidates = getClassHierarchy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sourceType.getType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targetCandidates = getClassHierarchy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targetType.getType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sourceCandidate : sourceCandidates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targetCandidate : targetCandidates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ConvertiblePair convertiblePair 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ConvertiblePair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sourceCandidate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targetCandidate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GenericConverter converter = getRegisteredConverter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convertiblePair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41E0E1F2-ED42-4AED-8C55-34B49BC93691}"/>
              </a:ext>
            </a:extLst>
          </p:cNvPr>
          <p:cNvCxnSpPr/>
          <p:nvPr/>
        </p:nvCxnSpPr>
        <p:spPr>
          <a:xfrm>
            <a:off x="-12984480" y="13007340"/>
            <a:ext cx="0" cy="1005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23">
            <a:extLst>
              <a:ext uri="{FF2B5EF4-FFF2-40B4-BE49-F238E27FC236}">
                <a16:creationId xmlns:a16="http://schemas.microsoft.com/office/drawing/2014/main" id="{AC72FB44-58CE-45AA-9B45-D71A5329F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8719" y="14016764"/>
            <a:ext cx="6468437" cy="29238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convert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source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notNull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"Target type to convert to cannot be null"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isTrue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"Source must be [null] if source type == [null]"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convertNullSource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&amp;&amp; !sourceType.getObjectType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.isInstance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new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"Source to convert from must be an instance of ["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sourceType 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"]; instead it was a ["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source.getClass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.getName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"]"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从缓存中得到转换器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GenericConverter converter = getConverter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 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i="1">
                <a:solidFill>
                  <a:srgbClr val="9876AA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 i="1">
                <a:solidFill>
                  <a:srgbClr val="9876AA"/>
                </a:solidFill>
                <a:latin typeface="Consolas" panose="020B0609020204030204" pitchFamily="49" charset="0"/>
              </a:rPr>
              <a:t>执行转换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result = ConversionUtils.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invokeConverter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handleConverterNotFound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4" name="Rectangle 24">
            <a:extLst>
              <a:ext uri="{FF2B5EF4-FFF2-40B4-BE49-F238E27FC236}">
                <a16:creationId xmlns:a16="http://schemas.microsoft.com/office/drawing/2014/main" id="{DE61F9ED-C898-4B35-890E-C3DBAAA56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70840" y="16397641"/>
            <a:ext cx="5037318" cy="107721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static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invokeConverter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GenericConverter converter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source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converter.convert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372A338F-846E-46AA-B289-3822B014D89B}"/>
              </a:ext>
            </a:extLst>
          </p:cNvPr>
          <p:cNvCxnSpPr>
            <a:cxnSpLocks/>
          </p:cNvCxnSpPr>
          <p:nvPr/>
        </p:nvCxnSpPr>
        <p:spPr>
          <a:xfrm>
            <a:off x="-12609510" y="16219866"/>
            <a:ext cx="1438670" cy="4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55FD81A5-1AD2-43B5-B492-3DF49D24C4F0}"/>
              </a:ext>
            </a:extLst>
          </p:cNvPr>
          <p:cNvCxnSpPr/>
          <p:nvPr/>
        </p:nvCxnSpPr>
        <p:spPr>
          <a:xfrm>
            <a:off x="-14043804" y="16418992"/>
            <a:ext cx="0" cy="1049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25">
            <a:extLst>
              <a:ext uri="{FF2B5EF4-FFF2-40B4-BE49-F238E27FC236}">
                <a16:creationId xmlns:a16="http://schemas.microsoft.com/office/drawing/2014/main" id="{07B22408-1DCC-4DD7-A972-68A464E1B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99763" y="17470846"/>
            <a:ext cx="6805068" cy="95410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handleResult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TypeDescriptor targetType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result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 ==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assertNotPrimitiveTargetType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sourceType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targetType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C3707FEC-92CB-49DB-889F-127668BD820B}"/>
              </a:ext>
            </a:extLst>
          </p:cNvPr>
          <p:cNvCxnSpPr>
            <a:cxnSpLocks/>
          </p:cNvCxnSpPr>
          <p:nvPr/>
        </p:nvCxnSpPr>
        <p:spPr>
          <a:xfrm>
            <a:off x="-5648325" y="12502271"/>
            <a:ext cx="26593" cy="617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26">
            <a:extLst>
              <a:ext uri="{FF2B5EF4-FFF2-40B4-BE49-F238E27FC236}">
                <a16:creationId xmlns:a16="http://schemas.microsoft.com/office/drawing/2014/main" id="{F0C7AC58-1BD2-49AC-B6A6-31E30B975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609006" y="13120237"/>
            <a:ext cx="5346335" cy="329320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@Override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Consolas" panose="020B0609020204030204" pitchFamily="49" charset="0"/>
              </a:rPr>
              <a:t>setValue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Consolas" panose="020B0609020204030204" pitchFamily="49" charset="0"/>
              </a:rPr>
              <a:t>@Nullable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 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throws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Exception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800" b="0" i="1" u="none" strike="noStrike" cap="none" normalizeH="0" baseline="0">
              <a:ln>
                <a:noFill/>
              </a:ln>
              <a:solidFill>
                <a:srgbClr val="9876AA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zh-CN" altLang="en-US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保存着需要赋值的方法参数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Method writeMethod =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pd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instanceof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GenericTypeAwarePropertyDescriptor ?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GenericTypeAwarePropertyDescriptor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.getWriteMethodForActualAccess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.getWriteMethod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if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System.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getSecurityManager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AccessController.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doPrivileged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PrivilegedAction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&gt;) 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-&gt;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ReflectionUtils.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makeAccessible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389C5"/>
                </a:solidFill>
                <a:effectLst/>
                <a:latin typeface="Consolas" panose="020B0609020204030204" pitchFamily="49" charset="0"/>
              </a:rPr>
              <a:t>writeMethod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   return null;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try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AccessController.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doPrivileged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PrivilegedExceptionAction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&gt;)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      ()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-&gt;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389C5"/>
                </a:solidFill>
                <a:effectLst/>
                <a:latin typeface="Consolas" panose="020B0609020204030204" pitchFamily="49" charset="0"/>
              </a:rPr>
              <a:t>writeMethod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.invoke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getWrappedInstance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B389C5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acc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catch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PrivilegedActionException ex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throw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ex.getException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else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ReflectionUtils.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makeAccessible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writeMethod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zh-CN" sz="800" b="0" i="0" u="none" strike="noStrike" cap="none" normalizeH="0" baseline="0">
              <a:ln>
                <a:noFill/>
              </a:ln>
              <a:solidFill>
                <a:srgbClr val="CC7832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>
                <a:solidFill>
                  <a:srgbClr val="CC783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800">
                <a:solidFill>
                  <a:srgbClr val="CC7832"/>
                </a:solidFill>
                <a:latin typeface="Consolas" panose="020B0609020204030204" pitchFamily="49" charset="0"/>
              </a:rPr>
              <a:t>赋值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writeMethod.invoke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getWrappedInstance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6" name="图片 145">
            <a:extLst>
              <a:ext uri="{FF2B5EF4-FFF2-40B4-BE49-F238E27FC236}">
                <a16:creationId xmlns:a16="http://schemas.microsoft.com/office/drawing/2014/main" id="{17ADECCE-4BDC-41EE-9785-850ECB7704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894122" y="17259369"/>
            <a:ext cx="5809524" cy="1761905"/>
          </a:xfrm>
          <a:prstGeom prst="rect">
            <a:avLst/>
          </a:prstGeom>
        </p:spPr>
      </p:pic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589D84C7-67D4-4454-AB7C-F23FD9F4470D}"/>
              </a:ext>
            </a:extLst>
          </p:cNvPr>
          <p:cNvCxnSpPr/>
          <p:nvPr/>
        </p:nvCxnSpPr>
        <p:spPr>
          <a:xfrm>
            <a:off x="-5621732" y="13620750"/>
            <a:ext cx="0" cy="3648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2C9DEFEA-1BB2-49CB-A762-9308246D565D}"/>
              </a:ext>
            </a:extLst>
          </p:cNvPr>
          <p:cNvSpPr/>
          <p:nvPr/>
        </p:nvSpPr>
        <p:spPr>
          <a:xfrm>
            <a:off x="-7366000" y="-2405921"/>
            <a:ext cx="4876800" cy="13564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BA73CFB-80FB-42F5-94E9-EC57BF91C748}"/>
              </a:ext>
            </a:extLst>
          </p:cNvPr>
          <p:cNvCxnSpPr/>
          <p:nvPr/>
        </p:nvCxnSpPr>
        <p:spPr>
          <a:xfrm>
            <a:off x="-5341486" y="9067800"/>
            <a:ext cx="0" cy="915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53966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C1362307-8C37-4708-BDD8-3034088B2B84}" vid="{427945C1-03DE-4FCB-9144-F1300B952A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784</TotalTime>
  <Words>3192</Words>
  <Application>Microsoft Office PowerPoint</Application>
  <PresentationFormat>宽屏</PresentationFormat>
  <Paragraphs>41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18</cp:revision>
  <dcterms:created xsi:type="dcterms:W3CDTF">2021-02-25T01:40:11Z</dcterms:created>
  <dcterms:modified xsi:type="dcterms:W3CDTF">2021-02-27T14:12:04Z</dcterms:modified>
</cp:coreProperties>
</file>