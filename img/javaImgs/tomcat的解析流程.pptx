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sldIdLst>
    <p:sldId id="256" r:id="rId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>
        <p:scale>
          <a:sx n="66" d="100"/>
          <a:sy n="66" d="100"/>
        </p:scale>
        <p:origin x="2256" y="112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6CCD104-850A-4DDB-94E8-350688BB66A8}" type="datetimeFigureOut">
              <a:rPr lang="zh-CN" altLang="en-US" smtClean="0"/>
              <a:t>2021/3/3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723C0AC-0D05-4184-9519-28A75389546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3534629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1AC06B0-E902-4F72-9B24-EE35F058E49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AA84DFEA-8BE2-49D7-92B2-DC92BEEBC08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53E81C7-77B0-48AA-9319-A2BED3584A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426698-D881-456C-B599-7E7D35B867C8}" type="datetimeFigureOut">
              <a:rPr lang="zh-CN" altLang="en-US" smtClean="0"/>
              <a:t>2021/3/3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38880EE-EC4A-47A8-A5A0-EDEE5807B6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EB5F6F8-6D36-486A-9EDD-50A90C387E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8DDE0F-1D44-4AEE-A36E-2B6B3763B11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0570431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3AD3946-E763-4118-8D2A-FA02AA1F2B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9986E92-DC06-4585-9BDC-2BCBED1EB85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C46A57A-462F-40C0-9384-0BE456C42B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426698-D881-456C-B599-7E7D35B867C8}" type="datetimeFigureOut">
              <a:rPr lang="zh-CN" altLang="en-US" smtClean="0"/>
              <a:t>2021/3/3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66EC460-FA13-401B-A65E-A09A7AAC1E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BA2F905-AF6C-4073-81C9-840991C693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8DDE0F-1D44-4AEE-A36E-2B6B3763B11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023019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F178B19-B3E8-46EC-820B-7D8D30172D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3EEC1001-0B6E-4208-B6C7-DB34CA841E7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392C8F8-0121-4422-AD6F-F69601CB7F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426698-D881-456C-B599-7E7D35B867C8}" type="datetimeFigureOut">
              <a:rPr lang="zh-CN" altLang="en-US" smtClean="0"/>
              <a:t>2021/3/3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050B4A9-B5E0-4991-BDA4-E82BC5DBD0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559F6D1-B4DC-4C3E-B10C-F6553F092F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8DDE0F-1D44-4AEE-A36E-2B6B3763B11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500592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90E08C6-B51C-4C6B-870A-3FD6A52E41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750D0FD-2867-405D-8CB5-75F64C7CCD8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829BC6CA-80BF-424D-A0C5-511FAA1F2A0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9AC17110-F47A-43D2-91F1-24A691D74D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426698-D881-456C-B599-7E7D35B867C8}" type="datetimeFigureOut">
              <a:rPr lang="zh-CN" altLang="en-US" smtClean="0"/>
              <a:t>2021/3/3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419A4563-FB4E-40B8-9413-99EC15AD27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2C4C18A-1B2B-43F6-BE7D-B9E7FB3875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8DDE0F-1D44-4AEE-A36E-2B6B3763B11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1632742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B13833B-CECC-4209-8435-F07DC4F15C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B59943CA-2904-4380-BE4B-F6732A958B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4DEAFEA1-0E1E-4967-9ADF-39B695CD256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A9ECF7F9-E322-47E0-AA42-01E504E6D72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95A9274-915B-4212-9E04-85CBDF6ECD7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4B414A8E-D6F8-4AA6-A50F-195947D3F7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426698-D881-456C-B599-7E7D35B867C8}" type="datetimeFigureOut">
              <a:rPr lang="zh-CN" altLang="en-US" smtClean="0"/>
              <a:t>2021/3/3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96B9DA71-4DB4-44C1-800E-F76702596E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72B3E668-FFC0-49D1-8188-EBA10A23E4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8DDE0F-1D44-4AEE-A36E-2B6B3763B11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773944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3680C7E-D9DF-496A-B4D7-3DCE9B8AD2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6833235B-CF7D-4E13-A40C-5BC5C34003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426698-D881-456C-B599-7E7D35B867C8}" type="datetimeFigureOut">
              <a:rPr lang="zh-CN" altLang="en-US" smtClean="0"/>
              <a:t>2021/3/3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9D60EF1D-2E9F-4422-A312-1465C6870F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FCE9CC41-FDA5-440D-843F-FAC431DD03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8DDE0F-1D44-4AEE-A36E-2B6B3763B11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8308330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9CA0414E-A40B-4671-B2E5-B55090170D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426698-D881-456C-B599-7E7D35B867C8}" type="datetimeFigureOut">
              <a:rPr lang="zh-CN" altLang="en-US" smtClean="0"/>
              <a:t>2021/3/3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555023F2-EA3D-4A4B-A8BC-FC03438C6B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90F0ADCB-D5EE-4CB6-B687-F709B81014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8DDE0F-1D44-4AEE-A36E-2B6B3763B11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680805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9DFFD43-92F4-494C-87C7-BC14E67B65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78BFA2B-AAC8-4CA7-9284-0959BB50F1F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5625843-B68E-45A7-AA03-C56F6CEC193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E329793-F974-4BEF-A9B5-C83440F9AC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426698-D881-456C-B599-7E7D35B867C8}" type="datetimeFigureOut">
              <a:rPr lang="zh-CN" altLang="en-US" smtClean="0"/>
              <a:t>2021/3/3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22F0B8B9-FFCB-4DE0-82D1-260F57574C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ADB92629-7F9A-449F-847C-231740F71D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8DDE0F-1D44-4AEE-A36E-2B6B3763B11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20559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0AB489-210F-4B92-8633-07B5DC0B92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F3CAF489-D332-4AE4-A7C2-F8AB457BD64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8371D03D-DA97-4778-9C3B-4C7F2220744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0E54B1B-AA67-4C55-9E7B-B8E9E185D9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426698-D881-456C-B599-7E7D35B867C8}" type="datetimeFigureOut">
              <a:rPr lang="zh-CN" altLang="en-US" smtClean="0"/>
              <a:t>2021/3/3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4B7C7D24-8036-4A60-A787-6F63FEEB51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A4FD6CC5-E69E-4248-A9F5-5DB25955E7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8DDE0F-1D44-4AEE-A36E-2B6B3763B11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2815075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A748BFB-78D0-452D-BDA3-702BD9EF68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79F5E2F7-69B2-4922-A677-71EA566D769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4E56800-FA0E-480B-93FB-F4F791281D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426698-D881-456C-B599-7E7D35B867C8}" type="datetimeFigureOut">
              <a:rPr lang="zh-CN" altLang="en-US" smtClean="0"/>
              <a:t>2021/3/3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3F323D3-C80E-4FCE-AC59-76E23E62FA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EDB2B0D-7748-4EE2-A0CB-15E3936F58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8DDE0F-1D44-4AEE-A36E-2B6B3763B11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0702890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C2C90578-6D5E-4625-BE72-AB919809899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1886027F-1D69-4DA3-B9D9-F9DBC7EFB7E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FF412BD-11B9-44D1-A387-D6DB361F46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426698-D881-456C-B599-7E7D35B867C8}" type="datetimeFigureOut">
              <a:rPr lang="zh-CN" altLang="en-US" smtClean="0"/>
              <a:t>2021/3/3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2AE32E5-0177-4BB9-BF81-5B85392A88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04B56C1-B2DF-4AA3-B9B6-F32EFE5D72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8DDE0F-1D44-4AEE-A36E-2B6B3763B11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574981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EAC09A32-CBE1-45C7-84F7-B15034B714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1B06DB6C-D3B3-4EDF-8792-8AEABAD0EC6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E892BD2-EA49-4DE5-96AD-B9C1F326FFC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426698-D881-456C-B599-7E7D35B867C8}" type="datetimeFigureOut">
              <a:rPr lang="zh-CN" altLang="en-US" smtClean="0"/>
              <a:t>2021/3/3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156ED75-4C84-4E5A-BDB8-59B8A070425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4EDEECA-3D5E-4056-9E37-1A3FEEC0C53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38DDE0F-1D44-4AEE-A36E-2B6B3763B11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638210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矩形 26">
            <a:extLst>
              <a:ext uri="{FF2B5EF4-FFF2-40B4-BE49-F238E27FC236}">
                <a16:creationId xmlns:a16="http://schemas.microsoft.com/office/drawing/2014/main" id="{A001C368-CE9D-45DE-BC32-C9FA9C7929F2}"/>
              </a:ext>
            </a:extLst>
          </p:cNvPr>
          <p:cNvSpPr/>
          <p:nvPr/>
        </p:nvSpPr>
        <p:spPr>
          <a:xfrm>
            <a:off x="4783129" y="3969167"/>
            <a:ext cx="1312871" cy="528693"/>
          </a:xfrm>
          <a:prstGeom prst="rect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F856915A-CFDA-493B-B049-F46B80481377}"/>
              </a:ext>
            </a:extLst>
          </p:cNvPr>
          <p:cNvSpPr txBox="1"/>
          <p:nvPr/>
        </p:nvSpPr>
        <p:spPr>
          <a:xfrm>
            <a:off x="5343786" y="0"/>
            <a:ext cx="180363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 latinLnBrk="1"/>
            <a:r>
              <a:rPr lang="zh-CN" altLang="en-US" sz="1000"/>
              <a:t>底层自动配置</a:t>
            </a:r>
            <a:r>
              <a:rPr lang="en-US" altLang="zh-CN" sz="1000"/>
              <a:t>tomcat</a:t>
            </a:r>
            <a:r>
              <a:rPr lang="zh-CN" altLang="en-US" sz="1000"/>
              <a:t>服务器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7AF17844-6E48-46C4-ADC8-7012AA6BCF8E}"/>
              </a:ext>
            </a:extLst>
          </p:cNvPr>
          <p:cNvSpPr txBox="1"/>
          <p:nvPr/>
        </p:nvSpPr>
        <p:spPr>
          <a:xfrm>
            <a:off x="5788402" y="700480"/>
            <a:ext cx="91440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 latinLnBrk="1"/>
            <a:r>
              <a:rPr lang="en-US" altLang="zh-CN" sz="1000"/>
              <a:t> springboot</a:t>
            </a:r>
            <a:r>
              <a:rPr lang="zh-CN" altLang="en-US" sz="1000"/>
              <a:t>发现启动的是</a:t>
            </a:r>
            <a:r>
              <a:rPr lang="en-US" altLang="zh-CN" sz="1000"/>
              <a:t>web</a:t>
            </a:r>
            <a:r>
              <a:rPr lang="zh-CN" altLang="en-US" sz="1000"/>
              <a:t>应用</a:t>
            </a:r>
          </a:p>
        </p:txBody>
      </p:sp>
      <p:cxnSp>
        <p:nvCxnSpPr>
          <p:cNvPr id="7" name="直接箭头连接符 6">
            <a:extLst>
              <a:ext uri="{FF2B5EF4-FFF2-40B4-BE49-F238E27FC236}">
                <a16:creationId xmlns:a16="http://schemas.microsoft.com/office/drawing/2014/main" id="{B2163FAA-551D-4145-AD17-A54D7375475F}"/>
              </a:ext>
            </a:extLst>
          </p:cNvPr>
          <p:cNvCxnSpPr/>
          <p:nvPr/>
        </p:nvCxnSpPr>
        <p:spPr>
          <a:xfrm>
            <a:off x="6171501" y="123110"/>
            <a:ext cx="0" cy="66545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直接箭头连接符 8">
            <a:extLst>
              <a:ext uri="{FF2B5EF4-FFF2-40B4-BE49-F238E27FC236}">
                <a16:creationId xmlns:a16="http://schemas.microsoft.com/office/drawing/2014/main" id="{7BB6C081-F386-410D-B56E-5396EB706EB3}"/>
              </a:ext>
            </a:extLst>
          </p:cNvPr>
          <p:cNvCxnSpPr>
            <a:cxnSpLocks/>
          </p:cNvCxnSpPr>
          <p:nvPr/>
        </p:nvCxnSpPr>
        <p:spPr>
          <a:xfrm>
            <a:off x="6171501" y="1175712"/>
            <a:ext cx="2794" cy="87959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Rectangle 1">
            <a:extLst>
              <a:ext uri="{FF2B5EF4-FFF2-40B4-BE49-F238E27FC236}">
                <a16:creationId xmlns:a16="http://schemas.microsoft.com/office/drawing/2014/main" id="{5A5D62A8-9E33-4766-A71A-47268D7CAE7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43810" y="2021586"/>
            <a:ext cx="3605474" cy="21544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web应用会创建一个web版的ioc容器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2"/>
                <a:ea typeface="Courier New" panose="02070309020205020404" pitchFamily="49" charset="0"/>
              </a:rPr>
              <a:t>ServletWebServerApplicationContext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</a:rPr>
              <a:t> 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</p:txBody>
      </p:sp>
      <p:cxnSp>
        <p:nvCxnSpPr>
          <p:cNvPr id="14" name="直接箭头连接符 13">
            <a:extLst>
              <a:ext uri="{FF2B5EF4-FFF2-40B4-BE49-F238E27FC236}">
                <a16:creationId xmlns:a16="http://schemas.microsoft.com/office/drawing/2014/main" id="{0FCE92C5-E546-46BA-9B9F-E8202B077C02}"/>
              </a:ext>
            </a:extLst>
          </p:cNvPr>
          <p:cNvCxnSpPr/>
          <p:nvPr/>
        </p:nvCxnSpPr>
        <p:spPr>
          <a:xfrm>
            <a:off x="6171501" y="2129308"/>
            <a:ext cx="0" cy="60683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文本框 14">
            <a:extLst>
              <a:ext uri="{FF2B5EF4-FFF2-40B4-BE49-F238E27FC236}">
                <a16:creationId xmlns:a16="http://schemas.microsoft.com/office/drawing/2014/main" id="{8C9B763D-1C6E-429A-B849-C0CF1322A892}"/>
              </a:ext>
            </a:extLst>
          </p:cNvPr>
          <p:cNvSpPr txBox="1"/>
          <p:nvPr/>
        </p:nvSpPr>
        <p:spPr>
          <a:xfrm>
            <a:off x="5777217" y="2675900"/>
            <a:ext cx="9144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 latinLnBrk="1"/>
            <a:r>
              <a:rPr lang="zh-CN" altLang="en-US" sz="1000"/>
              <a:t>父类的</a:t>
            </a:r>
            <a:r>
              <a:rPr lang="en-US" altLang="zh-CN" sz="1000"/>
              <a:t>onRefrech()</a:t>
            </a:r>
            <a:r>
              <a:rPr lang="zh-CN" altLang="en-US" sz="1000"/>
              <a:t>方法进行创建</a:t>
            </a:r>
            <a:r>
              <a:rPr lang="en-US" altLang="zh-CN" sz="1000"/>
              <a:t>createWebServer()</a:t>
            </a:r>
            <a:endParaRPr lang="zh-CN" altLang="en-US" sz="1000"/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F86C8180-B17D-4808-947E-0939B934E447}"/>
              </a:ext>
            </a:extLst>
          </p:cNvPr>
          <p:cNvSpPr txBox="1"/>
          <p:nvPr/>
        </p:nvSpPr>
        <p:spPr>
          <a:xfrm>
            <a:off x="5052270" y="3699545"/>
            <a:ext cx="6094602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000"/>
              <a:t>ServletWebServerFactory factory = getWebServerFactory();</a:t>
            </a:r>
            <a:endParaRPr lang="zh-CN" altLang="en-US" sz="1000"/>
          </a:p>
        </p:txBody>
      </p:sp>
      <p:cxnSp>
        <p:nvCxnSpPr>
          <p:cNvPr id="20" name="直接箭头连接符 19">
            <a:extLst>
              <a:ext uri="{FF2B5EF4-FFF2-40B4-BE49-F238E27FC236}">
                <a16:creationId xmlns:a16="http://schemas.microsoft.com/office/drawing/2014/main" id="{E0F644BD-3B61-4E53-BCC1-446389026895}"/>
              </a:ext>
            </a:extLst>
          </p:cNvPr>
          <p:cNvCxnSpPr>
            <a:stCxn id="15" idx="2"/>
          </p:cNvCxnSpPr>
          <p:nvPr/>
        </p:nvCxnSpPr>
        <p:spPr>
          <a:xfrm>
            <a:off x="6234417" y="3383786"/>
            <a:ext cx="0" cy="33916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直接箭头连接符 21">
            <a:extLst>
              <a:ext uri="{FF2B5EF4-FFF2-40B4-BE49-F238E27FC236}">
                <a16:creationId xmlns:a16="http://schemas.microsoft.com/office/drawing/2014/main" id="{065857B9-8EFC-479F-A0FF-1D1B77319B8B}"/>
              </a:ext>
            </a:extLst>
          </p:cNvPr>
          <p:cNvCxnSpPr/>
          <p:nvPr/>
        </p:nvCxnSpPr>
        <p:spPr>
          <a:xfrm>
            <a:off x="6245602" y="3945766"/>
            <a:ext cx="0" cy="60945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文本框 22">
            <a:extLst>
              <a:ext uri="{FF2B5EF4-FFF2-40B4-BE49-F238E27FC236}">
                <a16:creationId xmlns:a16="http://schemas.microsoft.com/office/drawing/2014/main" id="{F019D4C8-61F8-4F21-8BF4-3C9126380C8C}"/>
              </a:ext>
            </a:extLst>
          </p:cNvPr>
          <p:cNvSpPr txBox="1"/>
          <p:nvPr/>
        </p:nvSpPr>
        <p:spPr>
          <a:xfrm>
            <a:off x="4783827" y="3944814"/>
            <a:ext cx="1296097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 latinLnBrk="1"/>
            <a:r>
              <a:rPr lang="zh-CN" altLang="en-US" sz="1000"/>
              <a:t>通过判断</a:t>
            </a:r>
            <a:r>
              <a:rPr lang="en-US" altLang="zh-CN" sz="1000"/>
              <a:t>ioc</a:t>
            </a:r>
            <a:r>
              <a:rPr lang="zh-CN" altLang="en-US" sz="1000"/>
              <a:t>容器中是否注册了一个</a:t>
            </a:r>
            <a:r>
              <a:rPr lang="en-US" altLang="zh-CN" sz="1000"/>
              <a:t>webservice,</a:t>
            </a:r>
            <a:r>
              <a:rPr lang="zh-CN" altLang="en-US" sz="1000"/>
              <a:t>比如</a:t>
            </a:r>
            <a:r>
              <a:rPr lang="en-US" altLang="zh-CN" sz="1000"/>
              <a:t>tomcat</a:t>
            </a:r>
            <a:endParaRPr lang="zh-CN" altLang="en-US" sz="1000"/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BB1C391F-3CB7-4FBC-AD68-E282C28E2F01}"/>
              </a:ext>
            </a:extLst>
          </p:cNvPr>
          <p:cNvSpPr txBox="1"/>
          <p:nvPr/>
        </p:nvSpPr>
        <p:spPr>
          <a:xfrm>
            <a:off x="4100118" y="4497860"/>
            <a:ext cx="6094602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000"/>
              <a:t>String[] beanNames = getBeanFactory().getBeanNamesForType(ServletWebServerFactory.class);</a:t>
            </a:r>
            <a:endParaRPr lang="zh-CN" altLang="en-US" sz="1000"/>
          </a:p>
        </p:txBody>
      </p:sp>
      <p:pic>
        <p:nvPicPr>
          <p:cNvPr id="29" name="图片 28">
            <a:extLst>
              <a:ext uri="{FF2B5EF4-FFF2-40B4-BE49-F238E27FC236}">
                <a16:creationId xmlns:a16="http://schemas.microsoft.com/office/drawing/2014/main" id="{55E29F77-47EA-4279-A27A-1D74D32F10A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510009" y="1327816"/>
            <a:ext cx="2990476" cy="238095"/>
          </a:xfrm>
          <a:prstGeom prst="rect">
            <a:avLst/>
          </a:prstGeom>
        </p:spPr>
      </p:pic>
      <p:cxnSp>
        <p:nvCxnSpPr>
          <p:cNvPr id="34" name="直接箭头连接符 33">
            <a:extLst>
              <a:ext uri="{FF2B5EF4-FFF2-40B4-BE49-F238E27FC236}">
                <a16:creationId xmlns:a16="http://schemas.microsoft.com/office/drawing/2014/main" id="{EAC51844-4DC4-4D31-A29B-6F4C2EF9EA27}"/>
              </a:ext>
            </a:extLst>
          </p:cNvPr>
          <p:cNvCxnSpPr/>
          <p:nvPr/>
        </p:nvCxnSpPr>
        <p:spPr>
          <a:xfrm>
            <a:off x="853801" y="1565911"/>
            <a:ext cx="0" cy="43691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直接箭头连接符 35">
            <a:extLst>
              <a:ext uri="{FF2B5EF4-FFF2-40B4-BE49-F238E27FC236}">
                <a16:creationId xmlns:a16="http://schemas.microsoft.com/office/drawing/2014/main" id="{6D688216-F028-42F4-AB6C-FE9B8D39E90D}"/>
              </a:ext>
            </a:extLst>
          </p:cNvPr>
          <p:cNvCxnSpPr/>
          <p:nvPr/>
        </p:nvCxnSpPr>
        <p:spPr>
          <a:xfrm flipH="1" flipV="1">
            <a:off x="3514987" y="2833826"/>
            <a:ext cx="1268142" cy="113534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直接箭头连接符 37">
            <a:extLst>
              <a:ext uri="{FF2B5EF4-FFF2-40B4-BE49-F238E27FC236}">
                <a16:creationId xmlns:a16="http://schemas.microsoft.com/office/drawing/2014/main" id="{5E28D643-3A5D-4B96-BFE5-E6F0C97E3DCE}"/>
              </a:ext>
            </a:extLst>
          </p:cNvPr>
          <p:cNvCxnSpPr>
            <a:cxnSpLocks/>
          </p:cNvCxnSpPr>
          <p:nvPr/>
        </p:nvCxnSpPr>
        <p:spPr>
          <a:xfrm>
            <a:off x="6245602" y="4681057"/>
            <a:ext cx="0" cy="72984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文本框 39">
            <a:extLst>
              <a:ext uri="{FF2B5EF4-FFF2-40B4-BE49-F238E27FC236}">
                <a16:creationId xmlns:a16="http://schemas.microsoft.com/office/drawing/2014/main" id="{7142E0CC-4FA5-4C22-B04E-E0506A66482D}"/>
              </a:ext>
            </a:extLst>
          </p:cNvPr>
          <p:cNvSpPr txBox="1"/>
          <p:nvPr/>
        </p:nvSpPr>
        <p:spPr>
          <a:xfrm>
            <a:off x="0" y="4721544"/>
            <a:ext cx="226119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 latinLnBrk="1"/>
            <a:r>
              <a:rPr lang="zh-CN" altLang="en-US" sz="1000"/>
              <a:t>默认</a:t>
            </a:r>
            <a:r>
              <a:rPr lang="en-US" altLang="zh-CN" sz="1000"/>
              <a:t>springboot-start</a:t>
            </a:r>
            <a:r>
              <a:rPr lang="zh-CN" altLang="en-US" sz="1000"/>
              <a:t>中配置了</a:t>
            </a:r>
            <a:r>
              <a:rPr lang="en-US" altLang="zh-CN" sz="1000"/>
              <a:t>tomcat,</a:t>
            </a:r>
            <a:r>
              <a:rPr lang="zh-CN" altLang="en-US" sz="1000"/>
              <a:t>如果不要可以在</a:t>
            </a:r>
            <a:r>
              <a:rPr lang="en-US" altLang="zh-CN" sz="1000"/>
              <a:t>maven</a:t>
            </a:r>
            <a:r>
              <a:rPr lang="zh-CN" altLang="en-US" sz="1000"/>
              <a:t>中</a:t>
            </a:r>
            <a:r>
              <a:rPr lang="en-US" altLang="zh-CN" sz="1000"/>
              <a:t>exclude</a:t>
            </a:r>
            <a:endParaRPr lang="zh-CN" altLang="en-US" sz="1000"/>
          </a:p>
        </p:txBody>
      </p:sp>
      <p:sp>
        <p:nvSpPr>
          <p:cNvPr id="41" name="Rectangle 5">
            <a:extLst>
              <a:ext uri="{FF2B5EF4-FFF2-40B4-BE49-F238E27FC236}">
                <a16:creationId xmlns:a16="http://schemas.microsoft.com/office/drawing/2014/main" id="{217D0D87-E19D-41EE-A06F-70FF0577B538}"/>
              </a:ext>
            </a:extLst>
          </p:cNvPr>
          <p:cNvSpPr>
            <a:spLocks noChangeArrowheads="1"/>
          </p:cNvSpPr>
          <p:nvPr/>
        </p:nvSpPr>
        <p:spPr bwMode="auto">
          <a:xfrm>
            <a:off x="-2160814" y="2055303"/>
            <a:ext cx="5626861" cy="2677656"/>
          </a:xfrm>
          <a:prstGeom prst="rect">
            <a:avLst/>
          </a:prstGeom>
          <a:solidFill>
            <a:srgbClr val="2B2B2B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BBB529"/>
                </a:solidFill>
                <a:effectLst/>
                <a:latin typeface="Consolas" panose="020B0609020204030204" pitchFamily="49" charset="0"/>
              </a:rPr>
              <a:t>@Configuration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D0D0FF"/>
                </a:solidFill>
                <a:effectLst/>
                <a:latin typeface="Consolas" panose="020B0609020204030204" pitchFamily="49" charset="0"/>
              </a:rPr>
              <a:t>proxyBeanMethods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=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false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)</a:t>
            </a:r>
            <a:b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</a:b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BBB529"/>
                </a:solidFill>
                <a:effectLst/>
                <a:latin typeface="Consolas" panose="020B0609020204030204" pitchFamily="49" charset="0"/>
              </a:rPr>
              <a:t>@ConditionalOnClass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({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Servlet.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class,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Tomcat.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class,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UpgradeProtocol.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class 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})</a:t>
            </a:r>
            <a:b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</a:b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BBB529"/>
                </a:solidFill>
                <a:effectLst/>
                <a:latin typeface="Consolas" panose="020B0609020204030204" pitchFamily="49" charset="0"/>
              </a:rPr>
              <a:t>@ConditionalOnMissingBean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D0D0FF"/>
                </a:solidFill>
                <a:effectLst/>
                <a:latin typeface="Consolas" panose="020B0609020204030204" pitchFamily="49" charset="0"/>
              </a:rPr>
              <a:t>value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= ServletWebServerFactory.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class,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D0D0FF"/>
                </a:solidFill>
                <a:effectLst/>
                <a:latin typeface="Consolas" panose="020B0609020204030204" pitchFamily="49" charset="0"/>
              </a:rPr>
              <a:t>search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= SearchStrategy.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CURRENT)</a:t>
            </a:r>
            <a:b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</a:b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static class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EmbeddedTomcat 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{</a:t>
            </a:r>
            <a:b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</a:br>
            <a:b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</a:b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  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BBB529"/>
                </a:solidFill>
                <a:effectLst/>
                <a:latin typeface="Consolas" panose="020B0609020204030204" pitchFamily="49" charset="0"/>
              </a:rPr>
              <a:t>@Bean</a:t>
            </a:r>
            <a:b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BBB529"/>
                </a:solidFill>
                <a:effectLst/>
                <a:latin typeface="Consolas" panose="020B0609020204030204" pitchFamily="49" charset="0"/>
              </a:rPr>
            </a:b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BBB529"/>
                </a:solidFill>
                <a:effectLst/>
                <a:latin typeface="Consolas" panose="020B0609020204030204" pitchFamily="49" charset="0"/>
              </a:rPr>
              <a:t>  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TomcatServletWebServerFactory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FFC66D"/>
                </a:solidFill>
                <a:effectLst/>
                <a:latin typeface="Consolas" panose="020B0609020204030204" pitchFamily="49" charset="0"/>
              </a:rPr>
              <a:t>tomcatServletWebServerFactory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(</a:t>
            </a:r>
            <a:b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</a:b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        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ObjectProvider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TomcatConnectorCustomizer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&gt;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connectorCustomizers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,</a:t>
            </a:r>
            <a:b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</a:b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        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ObjectProvider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TomcatContextCustomizer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&gt;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contextCustomizers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,</a:t>
            </a:r>
            <a:b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</a:b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        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ObjectProvider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TomcatProtocolHandlerCustomizer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?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&gt;&gt;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protocolHandlerCustomizers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) {</a:t>
            </a:r>
            <a:b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</a:b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     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TomcatServletWebServerFactory factory =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new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TomcatServletWebServerFactory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()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</a:b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     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factory.getTomcatConnectorCustomizers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()</a:t>
            </a:r>
            <a:b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</a:b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           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.addAll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connectorCustomizers.orderedStream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()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.collect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Collectors.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toList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()))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</a:b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     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factory.getTomcatContextCustomizers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()</a:t>
            </a:r>
            <a:b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</a:b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           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.addAll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contextCustomizers.orderedStream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()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.collect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Collectors.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toList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()))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</a:b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     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factory.getTomcatProtocolHandlerCustomizers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()</a:t>
            </a:r>
            <a:b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</a:b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           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.addAll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protocolHandlerCustomizers.orderedStream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()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.collect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Collectors.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toList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()))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</a:b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      return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factory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</a:b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   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}</a:t>
            </a:r>
            <a:b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</a:br>
            <a:b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</a:b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}</a:t>
            </a:r>
            <a:endParaRPr kumimoji="0" lang="zh-CN" altLang="zh-CN" sz="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2" name="文本框 41">
            <a:extLst>
              <a:ext uri="{FF2B5EF4-FFF2-40B4-BE49-F238E27FC236}">
                <a16:creationId xmlns:a16="http://schemas.microsoft.com/office/drawing/2014/main" id="{5B04533F-C369-43BB-8923-93119C84FF62}"/>
              </a:ext>
            </a:extLst>
          </p:cNvPr>
          <p:cNvSpPr txBox="1"/>
          <p:nvPr/>
        </p:nvSpPr>
        <p:spPr>
          <a:xfrm>
            <a:off x="5870275" y="5356202"/>
            <a:ext cx="9144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 latinLnBrk="1"/>
            <a:r>
              <a:rPr lang="zh-CN" altLang="en-US" sz="1000"/>
              <a:t>通过</a:t>
            </a:r>
            <a:r>
              <a:rPr lang="en-US" altLang="zh-CN" sz="1000"/>
              <a:t>getBean</a:t>
            </a:r>
            <a:r>
              <a:rPr lang="zh-CN" altLang="en-US" sz="1000"/>
              <a:t>方法得到该</a:t>
            </a:r>
            <a:r>
              <a:rPr lang="en-US" altLang="zh-CN" sz="1000"/>
              <a:t>tomcatFactory</a:t>
            </a:r>
            <a:endParaRPr lang="zh-CN" altLang="en-US" sz="1000"/>
          </a:p>
        </p:txBody>
      </p:sp>
      <p:sp>
        <p:nvSpPr>
          <p:cNvPr id="44" name="Rectangle 6">
            <a:extLst>
              <a:ext uri="{FF2B5EF4-FFF2-40B4-BE49-F238E27FC236}">
                <a16:creationId xmlns:a16="http://schemas.microsoft.com/office/drawing/2014/main" id="{57AD2F53-D693-49E3-ABDA-2027D87DC50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70116" y="6460765"/>
            <a:ext cx="3550972" cy="215444"/>
          </a:xfrm>
          <a:prstGeom prst="rect">
            <a:avLst/>
          </a:prstGeom>
          <a:solidFill>
            <a:srgbClr val="2B2B2B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this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webServer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= factory.getWebServer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getSelfInitializer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())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;</a:t>
            </a:r>
            <a:endParaRPr kumimoji="0" lang="zh-CN" altLang="zh-CN" sz="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cxnSp>
        <p:nvCxnSpPr>
          <p:cNvPr id="46" name="直接箭头连接符 45">
            <a:extLst>
              <a:ext uri="{FF2B5EF4-FFF2-40B4-BE49-F238E27FC236}">
                <a16:creationId xmlns:a16="http://schemas.microsoft.com/office/drawing/2014/main" id="{82F0E329-5FBC-4D65-8E67-3A0D779F1A81}"/>
              </a:ext>
            </a:extLst>
          </p:cNvPr>
          <p:cNvCxnSpPr/>
          <p:nvPr/>
        </p:nvCxnSpPr>
        <p:spPr>
          <a:xfrm>
            <a:off x="6393337" y="6676209"/>
            <a:ext cx="0" cy="82682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" name="直接箭头连接符 2">
            <a:extLst>
              <a:ext uri="{FF2B5EF4-FFF2-40B4-BE49-F238E27FC236}">
                <a16:creationId xmlns:a16="http://schemas.microsoft.com/office/drawing/2014/main" id="{60CD2091-61B8-4948-B9C8-14016378E059}"/>
              </a:ext>
            </a:extLst>
          </p:cNvPr>
          <p:cNvCxnSpPr/>
          <p:nvPr/>
        </p:nvCxnSpPr>
        <p:spPr>
          <a:xfrm>
            <a:off x="6393337" y="5883215"/>
            <a:ext cx="0" cy="57755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文本框 29">
            <a:extLst>
              <a:ext uri="{FF2B5EF4-FFF2-40B4-BE49-F238E27FC236}">
                <a16:creationId xmlns:a16="http://schemas.microsoft.com/office/drawing/2014/main" id="{B7E08D06-323B-4935-9BFF-004DC21B3579}"/>
              </a:ext>
            </a:extLst>
          </p:cNvPr>
          <p:cNvSpPr txBox="1"/>
          <p:nvPr/>
        </p:nvSpPr>
        <p:spPr>
          <a:xfrm>
            <a:off x="3466047" y="7503034"/>
            <a:ext cx="717286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000"/>
              <a:t>TomcatServletWebServerFactory </a:t>
            </a:r>
            <a:r>
              <a:rPr lang="zh-CN" altLang="en-US" sz="1000"/>
              <a:t>创建出</a:t>
            </a:r>
            <a:r>
              <a:rPr lang="en-US" altLang="zh-CN" sz="1000"/>
              <a:t>Tomcat</a:t>
            </a:r>
            <a:r>
              <a:rPr lang="zh-CN" altLang="en-US" sz="1000"/>
              <a:t>服务器并启动；</a:t>
            </a:r>
            <a:r>
              <a:rPr lang="en-US" altLang="zh-CN" sz="1000"/>
              <a:t>TomcatWebServer </a:t>
            </a:r>
            <a:r>
              <a:rPr lang="zh-CN" altLang="en-US" sz="1000"/>
              <a:t>的构造器拥有初始化方法</a:t>
            </a:r>
            <a:r>
              <a:rPr lang="en-US" altLang="zh-CN" sz="1000"/>
              <a:t>initialize---this.tomcat.start();</a:t>
            </a:r>
            <a:r>
              <a:rPr lang="zh-CN" altLang="en-US" sz="1000"/>
              <a:t>内嵌服务器，就是手动把启动服务器的代码调用（</a:t>
            </a:r>
            <a:r>
              <a:rPr lang="en-US" altLang="zh-CN" sz="1000"/>
              <a:t>tomcat</a:t>
            </a:r>
            <a:r>
              <a:rPr lang="zh-CN" altLang="en-US" sz="1000"/>
              <a:t>核心</a:t>
            </a:r>
            <a:r>
              <a:rPr lang="en-US" altLang="zh-CN" sz="1000"/>
              <a:t>jar</a:t>
            </a:r>
            <a:r>
              <a:rPr lang="zh-CN" altLang="en-US" sz="1000"/>
              <a:t>包存在）</a:t>
            </a:r>
          </a:p>
        </p:txBody>
      </p:sp>
    </p:spTree>
    <p:extLst>
      <p:ext uri="{BB962C8B-B14F-4D97-AF65-F5344CB8AC3E}">
        <p14:creationId xmlns:p14="http://schemas.microsoft.com/office/powerpoint/2010/main" val="881425218"/>
      </p:ext>
    </p:extLst>
  </p:cSld>
  <p:clrMapOvr>
    <a:masterClrMapping/>
  </p:clrMapOvr>
</p:sld>
</file>

<file path=ppt/theme/theme1.xml><?xml version="1.0" encoding="utf-8"?>
<a:theme xmlns:a="http://schemas.openxmlformats.org/drawingml/2006/main" name="主题1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rgbClr val="C00000"/>
        </a:solidFill>
        <a:ln>
          <a:solidFill>
            <a:srgbClr val="C00000"/>
          </a:solidFill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rtlCol="0">
        <a:spAutoFit/>
      </a:bodyPr>
      <a:lstStyle>
        <a:defPPr algn="l" latinLnBrk="1">
          <a:defRPr sz="1000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主题1" id="{D577E29E-AE51-4EF0-A686-E85B626937A9}" vid="{E9AB96C3-DB1F-4A43-B8A4-7127552CCE69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主题1</Template>
  <TotalTime>206</TotalTime>
  <Words>306</Words>
  <Application>Microsoft Office PowerPoint</Application>
  <PresentationFormat>宽屏</PresentationFormat>
  <Paragraphs>12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7" baseType="lpstr">
      <vt:lpstr>Arial Unicode MS</vt:lpstr>
      <vt:lpstr>等线</vt:lpstr>
      <vt:lpstr>等线 Light</vt:lpstr>
      <vt:lpstr>Arial</vt:lpstr>
      <vt:lpstr>Consolas</vt:lpstr>
      <vt:lpstr>主题1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江 豪迪</dc:creator>
  <cp:lastModifiedBy>江 豪迪</cp:lastModifiedBy>
  <cp:revision>6</cp:revision>
  <dcterms:created xsi:type="dcterms:W3CDTF">2021-03-03T03:53:52Z</dcterms:created>
  <dcterms:modified xsi:type="dcterms:W3CDTF">2021-03-03T12:45:23Z</dcterms:modified>
</cp:coreProperties>
</file>