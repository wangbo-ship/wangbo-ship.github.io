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4" y="-4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9BB22F-F27A-49AE-9956-79A892863317}"/>
              </a:ext>
            </a:extLst>
          </p:cNvPr>
          <p:cNvSpPr txBox="1"/>
          <p:nvPr/>
        </p:nvSpPr>
        <p:spPr>
          <a:xfrm>
            <a:off x="5256501" y="118725"/>
            <a:ext cx="1678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Thymeleaf</a:t>
            </a:r>
            <a:r>
              <a:rPr lang="zh-CN" altLang="en-US" sz="1000"/>
              <a:t>视图解析流程</a:t>
            </a:r>
            <a:r>
              <a:rPr lang="en-US" altLang="zh-CN" sz="1000"/>
              <a:t>(</a:t>
            </a:r>
            <a:r>
              <a:rPr lang="zh-CN" altLang="en-US" sz="1000"/>
              <a:t>红色代表不是父子关系</a:t>
            </a:r>
            <a:r>
              <a:rPr lang="en-US" altLang="zh-CN" sz="1000"/>
              <a:t>)</a:t>
            </a:r>
            <a:endParaRPr lang="zh-CN" altLang="en-US" sz="10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916896-D9E0-4CA8-B0EF-486A81A5D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901" y="688112"/>
            <a:ext cx="4168129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 = ha.handle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mappedHandler.getHandler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AA204A7-487D-456B-8E34-D7382C7A1865}"/>
              </a:ext>
            </a:extLst>
          </p:cNvPr>
          <p:cNvSpPr/>
          <p:nvPr/>
        </p:nvSpPr>
        <p:spPr>
          <a:xfrm>
            <a:off x="5158030" y="772974"/>
            <a:ext cx="1678998" cy="4571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AFFE9F7-BB29-4726-9211-11EA18D9D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028" y="688111"/>
            <a:ext cx="5121915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processDispatchResult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mappedHandler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dispatchException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F7CCB3-D0E1-4D11-BDA5-2DC05CBE0B05}"/>
              </a:ext>
            </a:extLst>
          </p:cNvPr>
          <p:cNvSpPr txBox="1"/>
          <p:nvPr/>
        </p:nvSpPr>
        <p:spPr>
          <a:xfrm>
            <a:off x="8221210" y="403418"/>
            <a:ext cx="1678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进行转发或者重定向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CB46B4-9C62-4F00-BC7B-901665EAF4D8}"/>
              </a:ext>
            </a:extLst>
          </p:cNvPr>
          <p:cNvSpPr txBox="1"/>
          <p:nvPr/>
        </p:nvSpPr>
        <p:spPr>
          <a:xfrm>
            <a:off x="1939456" y="403418"/>
            <a:ext cx="2523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将返回值的视图名放到</a:t>
            </a:r>
            <a:r>
              <a:rPr lang="en-US" altLang="zh-CN" sz="1000"/>
              <a:t>modelAndView</a:t>
            </a:r>
            <a:r>
              <a:rPr lang="zh-CN" altLang="en-US" sz="1000"/>
              <a:t>中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283B5F6-DA34-4804-A1A6-4E2A69EC3907}"/>
              </a:ext>
            </a:extLst>
          </p:cNvPr>
          <p:cNvCxnSpPr/>
          <p:nvPr/>
        </p:nvCxnSpPr>
        <p:spPr>
          <a:xfrm>
            <a:off x="2558642" y="903555"/>
            <a:ext cx="0" cy="681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9225D7DD-0728-4806-8330-F2DD8A6F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402" y="1586798"/>
            <a:ext cx="3550972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 = invokeHandlerMethod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508D7C8-E2B9-40E8-A992-0D22D4177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402" y="2679520"/>
            <a:ext cx="3438762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invocableMethod.invokeAndHandle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E22DCAE-D1F9-4D9B-8445-61247708BC52}"/>
              </a:ext>
            </a:extLst>
          </p:cNvPr>
          <p:cNvCxnSpPr/>
          <p:nvPr/>
        </p:nvCxnSpPr>
        <p:spPr>
          <a:xfrm>
            <a:off x="2558642" y="1802242"/>
            <a:ext cx="0" cy="877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5">
            <a:extLst>
              <a:ext uri="{FF2B5EF4-FFF2-40B4-BE49-F238E27FC236}">
                <a16:creationId xmlns:a16="http://schemas.microsoft.com/office/drawing/2014/main" id="{32AC916D-3670-4629-A481-08FB19663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445" y="3747593"/>
            <a:ext cx="4560864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 = invokeForRequest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providedArgs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A91DEE5-BDC1-42A6-A0C4-0A85FF935CFB}"/>
              </a:ext>
            </a:extLst>
          </p:cNvPr>
          <p:cNvCxnSpPr/>
          <p:nvPr/>
        </p:nvCxnSpPr>
        <p:spPr>
          <a:xfrm>
            <a:off x="2558642" y="2894964"/>
            <a:ext cx="0" cy="852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17E8E79-DBB5-4A86-A0D5-ED3AE419BCE3}"/>
              </a:ext>
            </a:extLst>
          </p:cNvPr>
          <p:cNvSpPr txBox="1"/>
          <p:nvPr/>
        </p:nvSpPr>
        <p:spPr>
          <a:xfrm>
            <a:off x="2784783" y="3524442"/>
            <a:ext cx="18617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得到方法的返回值对象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13BFDBFA-88CF-4BB7-B904-1BC2957D5CFF}"/>
              </a:ext>
            </a:extLst>
          </p:cNvPr>
          <p:cNvSpPr/>
          <p:nvPr/>
        </p:nvSpPr>
        <p:spPr>
          <a:xfrm>
            <a:off x="2474752" y="3963037"/>
            <a:ext cx="83821" cy="76810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183985A2-3358-47AC-8C93-DC142583E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0" y="4731142"/>
            <a:ext cx="4729180" cy="5847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returnValueHandlers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.handleReturnValue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getReturnValueType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BCB44B-8AAF-4A88-A711-DB9AF2463B13}"/>
              </a:ext>
            </a:extLst>
          </p:cNvPr>
          <p:cNvSpPr txBox="1"/>
          <p:nvPr/>
        </p:nvSpPr>
        <p:spPr>
          <a:xfrm>
            <a:off x="2608818" y="4477225"/>
            <a:ext cx="278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根据返回值把</a:t>
            </a:r>
            <a:r>
              <a:rPr lang="en-US" altLang="zh-CN" sz="1000"/>
              <a:t>viewName</a:t>
            </a:r>
            <a:r>
              <a:rPr lang="zh-CN" altLang="en-US" sz="1000"/>
              <a:t>放入</a:t>
            </a:r>
            <a:r>
              <a:rPr lang="en-US" altLang="zh-CN" sz="1000"/>
              <a:t>ModelAndView</a:t>
            </a:r>
            <a:r>
              <a:rPr lang="zh-CN" altLang="en-US" sz="1000"/>
              <a:t>中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B9003635-0237-4EF7-9CDF-FC6298C67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0" y="5976300"/>
            <a:ext cx="4504759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handler.handleReturnValue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BDDE9B1-33BB-4B86-BD66-035AE0F3805C}"/>
              </a:ext>
            </a:extLst>
          </p:cNvPr>
          <p:cNvCxnSpPr/>
          <p:nvPr/>
        </p:nvCxnSpPr>
        <p:spPr>
          <a:xfrm>
            <a:off x="2558573" y="5315917"/>
            <a:ext cx="0" cy="66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8">
            <a:extLst>
              <a:ext uri="{FF2B5EF4-FFF2-40B4-BE49-F238E27FC236}">
                <a16:creationId xmlns:a16="http://schemas.microsoft.com/office/drawing/2014/main" id="{EB001BDD-4037-4B2D-9CC3-0E828985C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436" y="6817859"/>
            <a:ext cx="5514651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handleReturnValue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returnType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CharSequence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viewName = returnValue.toString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isRedirectViewName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mavContainer.setRedirectModelScenario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should not happen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UnsupportedOperationException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"Unexpected return type: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returnType.getParameterType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 in method: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returnType.getMethod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CE43990-1B85-407C-AF7F-1F4E183CDF61}"/>
              </a:ext>
            </a:extLst>
          </p:cNvPr>
          <p:cNvCxnSpPr>
            <a:cxnSpLocks/>
          </p:cNvCxnSpPr>
          <p:nvPr/>
        </p:nvCxnSpPr>
        <p:spPr>
          <a:xfrm>
            <a:off x="2498394" y="6191744"/>
            <a:ext cx="0" cy="626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ECCDDCA-FE62-46B3-AD90-FB38370791A4}"/>
              </a:ext>
            </a:extLst>
          </p:cNvPr>
          <p:cNvCxnSpPr/>
          <p:nvPr/>
        </p:nvCxnSpPr>
        <p:spPr>
          <a:xfrm>
            <a:off x="7701094" y="818693"/>
            <a:ext cx="0" cy="60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9">
            <a:extLst>
              <a:ext uri="{FF2B5EF4-FFF2-40B4-BE49-F238E27FC236}">
                <a16:creationId xmlns:a16="http://schemas.microsoft.com/office/drawing/2014/main" id="{94C2A74E-67D7-4D9F-BB9B-36CB09D4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028" y="1448988"/>
            <a:ext cx="1867819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54A11579-56D5-4522-A3BE-1E42897F1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499" y="2209865"/>
            <a:ext cx="4280339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 = resolveViewName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mv.getModelInternal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locale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B31DC9EF-6FB6-4073-9D24-2448E79A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20" y="3092692"/>
            <a:ext cx="6183076" cy="1740690"/>
          </a:xfrm>
          <a:prstGeom prst="rect">
            <a:avLst/>
          </a:prstGeom>
        </p:spPr>
      </p:pic>
      <p:sp>
        <p:nvSpPr>
          <p:cNvPr id="40" name="Rectangle 11">
            <a:extLst>
              <a:ext uri="{FF2B5EF4-FFF2-40B4-BE49-F238E27FC236}">
                <a16:creationId xmlns:a16="http://schemas.microsoft.com/office/drawing/2014/main" id="{7EE12D8F-7AD8-4BBF-9B05-2D70FB12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1061" y="5377655"/>
            <a:ext cx="6019597" cy="206210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Locale locale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RequestAttributes attrs = RequestContextHolder.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getRequestAttributes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ServletRequestAttributes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current ServletRequestAttributes"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requestedMediaTypes = getMediaTypes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requestedMediaTypes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得到所有匹配的</a:t>
            </a: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view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candidateViews = getCandidateViews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locale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得到最匹配的解析器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 bestView = getBestView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candidateViews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requestedMediaTypes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bestView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bestView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12">
            <a:extLst>
              <a:ext uri="{FF2B5EF4-FFF2-40B4-BE49-F238E27FC236}">
                <a16:creationId xmlns:a16="http://schemas.microsoft.com/office/drawing/2014/main" id="{3BA76F50-9F6F-4C0C-B0AC-F14EBF59F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499" y="8379530"/>
            <a:ext cx="6412333" cy="366254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getCandidateViews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Locale locale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candidateViews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&lt;&gt;()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viewResolvers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contentNegotiationManager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ContentNegotiationManager set"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遍历所有的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view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解析器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ViewResolver viewResolver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viewResolvers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 view = viewResolver.resolveViewName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locale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candidateViews.add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MediaType requestedMediaType : requestedMediaTypes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extensions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contentNegotiationManager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.resolveFileExtensions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requestedMediaType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extension : extensions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viewNameWithExtension = viewName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'.'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extension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 = viewResolver.resolveViewName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viewNameWithExtension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locale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candidateViews.add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!CollectionUtils.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defaultViews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candidateViews.addAll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defaultViews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candidateViews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8C4764F-9E5B-438D-B1D8-287672375641}"/>
              </a:ext>
            </a:extLst>
          </p:cNvPr>
          <p:cNvSpPr txBox="1"/>
          <p:nvPr/>
        </p:nvSpPr>
        <p:spPr>
          <a:xfrm>
            <a:off x="8054214" y="2864417"/>
            <a:ext cx="3513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在第一个</a:t>
            </a:r>
            <a:r>
              <a:rPr lang="en-US" altLang="zh-CN" sz="1000"/>
              <a:t>viewResolver</a:t>
            </a:r>
            <a:r>
              <a:rPr lang="zh-CN" altLang="en-US" sz="1000"/>
              <a:t>中就把所有的</a:t>
            </a:r>
            <a:r>
              <a:rPr lang="en-US" altLang="zh-CN" sz="1000"/>
              <a:t>viewResolvers</a:t>
            </a:r>
            <a:r>
              <a:rPr lang="zh-CN" altLang="en-US" sz="1000"/>
              <a:t>遍历了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74794A8-0202-46DF-A194-F69B4C6F57D0}"/>
              </a:ext>
            </a:extLst>
          </p:cNvPr>
          <p:cNvCxnSpPr/>
          <p:nvPr/>
        </p:nvCxnSpPr>
        <p:spPr>
          <a:xfrm>
            <a:off x="7513608" y="1664432"/>
            <a:ext cx="0" cy="54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296014C-5ACF-4197-837C-71147271415E}"/>
              </a:ext>
            </a:extLst>
          </p:cNvPr>
          <p:cNvCxnSpPr/>
          <p:nvPr/>
        </p:nvCxnSpPr>
        <p:spPr>
          <a:xfrm>
            <a:off x="7625751" y="2425309"/>
            <a:ext cx="0" cy="667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6F73676-6F89-4807-A2AF-A94E04791FE0}"/>
              </a:ext>
            </a:extLst>
          </p:cNvPr>
          <p:cNvCxnSpPr>
            <a:cxnSpLocks/>
          </p:cNvCxnSpPr>
          <p:nvPr/>
        </p:nvCxnSpPr>
        <p:spPr>
          <a:xfrm>
            <a:off x="8445260" y="3855315"/>
            <a:ext cx="1" cy="1859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EE53FBE-47BA-4A0E-A2AF-32560013CC1D}"/>
              </a:ext>
            </a:extLst>
          </p:cNvPr>
          <p:cNvCxnSpPr>
            <a:cxnSpLocks/>
          </p:cNvCxnSpPr>
          <p:nvPr/>
        </p:nvCxnSpPr>
        <p:spPr>
          <a:xfrm>
            <a:off x="8951668" y="6454582"/>
            <a:ext cx="0" cy="2079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8B3BF9A-5573-4006-A0A2-829852AD31B6}"/>
              </a:ext>
            </a:extLst>
          </p:cNvPr>
          <p:cNvSpPr txBox="1"/>
          <p:nvPr/>
        </p:nvSpPr>
        <p:spPr>
          <a:xfrm>
            <a:off x="5525877" y="9519197"/>
            <a:ext cx="1275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当匹配的是</a:t>
            </a:r>
            <a:r>
              <a:rPr lang="en-US" altLang="zh-CN" sz="1000"/>
              <a:t>Thymeleaf</a:t>
            </a:r>
            <a:r>
              <a:rPr lang="zh-CN" altLang="en-US" sz="1000"/>
              <a:t>视图解析的时候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D9918009-8231-48A2-B3D5-00A1D4EC7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19" y="9232473"/>
            <a:ext cx="4276190" cy="1028571"/>
          </a:xfrm>
          <a:prstGeom prst="rect">
            <a:avLst/>
          </a:prstGeom>
        </p:spPr>
      </p:pic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2B078EB-767C-4868-8FD0-05F9416FFAFC}"/>
              </a:ext>
            </a:extLst>
          </p:cNvPr>
          <p:cNvCxnSpPr>
            <a:cxnSpLocks/>
          </p:cNvCxnSpPr>
          <p:nvPr/>
        </p:nvCxnSpPr>
        <p:spPr>
          <a:xfrm flipH="1">
            <a:off x="5341369" y="9480430"/>
            <a:ext cx="31038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F672C849-39B4-4EF2-8AD8-E8147DA3DAEC}"/>
              </a:ext>
            </a:extLst>
          </p:cNvPr>
          <p:cNvSpPr txBox="1"/>
          <p:nvPr/>
        </p:nvSpPr>
        <p:spPr>
          <a:xfrm>
            <a:off x="2811455" y="10167279"/>
            <a:ext cx="2257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如果是普通字符串</a:t>
            </a:r>
            <a:r>
              <a:rPr lang="en-US" altLang="zh-CN" sz="1000"/>
              <a:t>,</a:t>
            </a:r>
            <a:r>
              <a:rPr lang="zh-CN" altLang="en-US" sz="1000"/>
              <a:t>那么写把数据写入缓存</a:t>
            </a:r>
            <a:r>
              <a:rPr lang="en-US" altLang="zh-CN" sz="1000"/>
              <a:t>,</a:t>
            </a:r>
            <a:r>
              <a:rPr lang="zh-CN" altLang="en-US" sz="1000"/>
              <a:t>然后通过缓存直接进行写出</a:t>
            </a:r>
          </a:p>
        </p:txBody>
      </p:sp>
      <p:sp>
        <p:nvSpPr>
          <p:cNvPr id="63" name="Rectangle 13">
            <a:extLst>
              <a:ext uri="{FF2B5EF4-FFF2-40B4-BE49-F238E27FC236}">
                <a16:creationId xmlns:a16="http://schemas.microsoft.com/office/drawing/2014/main" id="{EEDDFD22-3C6A-41EC-9314-A0447E5BB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376" y="10927584"/>
            <a:ext cx="5851282" cy="169277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HttpServletResponse 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.isDebugEnabled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"View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formatViewName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", model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 model : Collections.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emptyMap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staticAttributes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", static attributes 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staticAttributes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mergedModel = createMergedOutputModel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prepareResponse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renderMergedOutputModel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mergedModel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getRequestToExpose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304E34C-03EF-4988-90BB-BFB589B30606}"/>
              </a:ext>
            </a:extLst>
          </p:cNvPr>
          <p:cNvSpPr txBox="1"/>
          <p:nvPr/>
        </p:nvSpPr>
        <p:spPr>
          <a:xfrm>
            <a:off x="187228" y="10424550"/>
            <a:ext cx="20156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调用每一个</a:t>
            </a:r>
            <a:r>
              <a:rPr lang="en-US" altLang="zh-CN" sz="1000"/>
              <a:t>view</a:t>
            </a:r>
            <a:r>
              <a:rPr lang="zh-CN" altLang="en-US" sz="1000"/>
              <a:t>中的</a:t>
            </a:r>
            <a:r>
              <a:rPr lang="en-US" altLang="zh-CN" sz="1000"/>
              <a:t>render</a:t>
            </a:r>
            <a:r>
              <a:rPr lang="zh-CN" altLang="en-US" sz="1000"/>
              <a:t>中的</a:t>
            </a:r>
            <a:r>
              <a:rPr lang="en-US" altLang="zh-CN" sz="1000"/>
              <a:t>renderMergedOutputModel</a:t>
            </a:r>
            <a:r>
              <a:rPr lang="zh-CN" altLang="en-US" sz="1000"/>
              <a:t>方法</a:t>
            </a:r>
            <a:r>
              <a:rPr lang="en-US" altLang="zh-CN" sz="1000"/>
              <a:t>,</a:t>
            </a:r>
            <a:r>
              <a:rPr lang="zh-CN" altLang="en-US" sz="1000"/>
              <a:t>执行不同的操作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A69CDA-874B-4B47-B4EE-D7C23BA6CB8C}"/>
              </a:ext>
            </a:extLst>
          </p:cNvPr>
          <p:cNvCxnSpPr/>
          <p:nvPr/>
        </p:nvCxnSpPr>
        <p:spPr>
          <a:xfrm>
            <a:off x="187228" y="9178333"/>
            <a:ext cx="635704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BC70BAC-A857-40E4-B4D7-1C4F3D2C8488}"/>
              </a:ext>
            </a:extLst>
          </p:cNvPr>
          <p:cNvCxnSpPr/>
          <p:nvPr/>
        </p:nvCxnSpPr>
        <p:spPr>
          <a:xfrm>
            <a:off x="6544271" y="6056851"/>
            <a:ext cx="0" cy="312148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194630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D577E29E-AE51-4EF0-A686-E85B626937A9}" vid="{E9AB96C3-DB1F-4A43-B8A4-7127552CCE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54</TotalTime>
  <Words>877</Words>
  <Application>Microsoft Office PowerPoint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7</cp:revision>
  <dcterms:created xsi:type="dcterms:W3CDTF">2021-02-28T12:43:20Z</dcterms:created>
  <dcterms:modified xsi:type="dcterms:W3CDTF">2021-03-02T13:39:44Z</dcterms:modified>
</cp:coreProperties>
</file>